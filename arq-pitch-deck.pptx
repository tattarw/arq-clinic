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ACA89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ACA89F"/>
                </a:solidFill>
                <a:latin typeface="Arial"/>
              </a:rPr>
              <a:t>Monthly Revenue (INR Lakhs)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(INR Lakhs)</c:v>
                </c:pt>
              </c:strCache>
            </c:strRef>
          </c:tx>
          <c:spPr>
            <a:solidFill>
              <a:srgbClr val="C89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ACA89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M15</c:v>
                  </c:pt>
                  <c:pt idx="6">
                    <c:v>M18</c:v>
                  </c:pt>
                  <c:pt idx="7">
                    <c:v>M21</c:v>
                  </c:pt>
                  <c:pt idx="8">
                    <c:v>M24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</c:v>
                </c:pt>
                <c:pt idx="1">
                  <c:v>2.4</c:v>
                </c:pt>
                <c:pt idx="2">
                  <c:v>7.1</c:v>
                </c:pt>
                <c:pt idx="3">
                  <c:v>13.7</c:v>
                </c:pt>
                <c:pt idx="4">
                  <c:v>21.5</c:v>
                </c:pt>
                <c:pt idx="5">
                  <c:v>29.7</c:v>
                </c:pt>
                <c:pt idx="6">
                  <c:v>37.8</c:v>
                </c:pt>
                <c:pt idx="7">
                  <c:v>46</c:v>
                </c:pt>
                <c:pt idx="8">
                  <c:v>54.4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ACA89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C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393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C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0F12"/>
        </a:solidFill>
        <a:ln>
          <a:noFill/>
        </a:ln>
        <a:effectLst/>
      </c:spPr>
    </c:plotArea>
    <c:plotVisOnly val="1"/>
    <c:dispBlanksAs val="span"/>
  </c:chart>
  <c:spPr>
    <a:solidFill>
      <a:srgbClr val="0F0F1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973A"/>
              </a:solidFill>
              <a:effectLst/>
            </c:spPr>
          </c:dPt>
          <c:dPt>
            <c:idx val="1"/>
            <c:bubble3D val="0"/>
            <c:spPr>
              <a:solidFill>
                <a:srgbClr val="DBA84A"/>
              </a:solidFill>
              <a:effectLst/>
            </c:spPr>
          </c:dPt>
          <c:dPt>
            <c:idx val="2"/>
            <c:bubble3D val="0"/>
            <c:spPr>
              <a:solidFill>
                <a:srgbClr val="E8C874"/>
              </a:solidFill>
              <a:effectLst/>
            </c:spPr>
          </c:dPt>
          <c:dPt>
            <c:idx val="3"/>
            <c:bubble3D val="0"/>
            <c:spPr>
              <a:solidFill>
                <a:srgbClr val="A87A2E"/>
              </a:solidFill>
              <a:effectLst/>
            </c:spPr>
          </c:dPt>
          <c:dPt>
            <c:idx val="4"/>
            <c:bubble3D val="0"/>
            <c:spPr>
              <a:solidFill>
                <a:srgbClr val="8A6420"/>
              </a:solidFill>
              <a:effectLst/>
            </c:spPr>
          </c:dPt>
          <c:dPt>
            <c:idx val="5"/>
            <c:bubble3D val="0"/>
            <c:spPr>
              <a:solidFill>
                <a:srgbClr val="6B4E1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EBE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EBE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EBE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EBE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EBE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EBE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Licensing &amp; Legal</c:v>
                </c:pt>
                <c:pt idx="1">
                  <c:v>Inventory (first 3 SKUs)</c:v>
                </c:pt>
                <c:pt idx="2">
                  <c:v>Marketing (6 months)</c:v>
                </c:pt>
                <c:pt idx="3">
                  <c:v>Tech &amp; Infrastructure</c:v>
                </c:pt>
                <c:pt idx="4">
                  <c:v>Doctor Network Setup</c:v>
                </c:pt>
                <c:pt idx="5">
                  <c:v>Working Capital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</c:v>
                </c:pt>
                <c:pt idx="1">
                  <c:v>8</c:v>
                </c:pt>
                <c:pt idx="2">
                  <c:v>18</c:v>
                </c:pt>
                <c:pt idx="3">
                  <c:v>7</c:v>
                </c:pt>
                <c:pt idx="4">
                  <c:v>5</c:v>
                </c:pt>
                <c:pt idx="5">
                  <c:v>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ACA89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</a:t>
            </a:r>
            <a:pPr algn="ctr" indent="0" marL="0">
              <a:buNone/>
            </a:pPr>
            <a:r>
              <a:rPr lang="en-US" sz="7200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body. Your call.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prescription biohacking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749040"/>
            <a:ext cx="2743200" cy="1371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|  APRIL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One Technologies Pvt Ltd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Millions know what they need.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makes it easy to get.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840480" cy="118872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54864" cy="1188720"/>
          </a:xfrm>
          <a:prstGeom prst="rect">
            <a:avLst/>
          </a:prstGeom>
          <a:solidFill>
            <a:srgbClr val="C897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Gatekept by theater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2468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customers forced to perform illness for a prescription they already understand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965960"/>
            <a:ext cx="3840480" cy="118872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965960"/>
            <a:ext cx="54864" cy="1188720"/>
          </a:xfrm>
          <a:prstGeom prst="rect">
            <a:avLst/>
          </a:prstGeom>
          <a:solidFill>
            <a:srgbClr val="C897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488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discreet access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86400" y="2468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ED, hair loss, nootropics — stigmatized categories with zero privacy in Indian pharmacies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383280"/>
            <a:ext cx="3840480" cy="118872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383280"/>
            <a:ext cx="54864" cy="1188720"/>
          </a:xfrm>
          <a:prstGeom prst="rect">
            <a:avLst/>
          </a:prstGeom>
          <a:solidFill>
            <a:srgbClr val="C897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661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Peptides are invisible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280160" y="3886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BPC-157, semaglutide, TRT — massive global demand, zero legitimate Indian supply chain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383280"/>
            <a:ext cx="3840480" cy="118872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383280"/>
            <a:ext cx="54864" cy="1188720"/>
          </a:xfrm>
          <a:prstGeom prst="rect">
            <a:avLst/>
          </a:prstGeom>
          <a:solidFill>
            <a:srgbClr val="C8973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661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market thrives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486400" y="3886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buying unverified compounds from Telegram and WhatsApp resellers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category being created, not competed for.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645920" cy="1645920"/>
          </a:xfrm>
          <a:prstGeom prst="ellipse">
            <a:avLst/>
          </a:prstGeom>
          <a:solidFill>
            <a:srgbClr val="2A2318"/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online pharmacy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1645920" cy="1645920"/>
          </a:xfrm>
          <a:prstGeom prst="ellipse">
            <a:avLst/>
          </a:prstGeom>
          <a:solidFill>
            <a:srgbClr val="2A2318"/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01752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wellness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biohacking segment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1554480"/>
            <a:ext cx="1645920" cy="1645920"/>
          </a:xfrm>
          <a:prstGeom prst="ellipse">
            <a:avLst/>
          </a:prstGeom>
          <a:solidFill>
            <a:srgbClr val="2A2318"/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7784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$22Cr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9496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target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~4,000 subscribers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8046720" cy="13716"/>
          </a:xfrm>
          <a:prstGeom prst="rect">
            <a:avLst/>
          </a:prstGeom>
          <a:solidFill>
            <a:srgbClr val="3A3935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43400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2296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Hims &amp; Hers: $35B market cap (US proof)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434340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SEO: 'BPC-157 India' — KD 18, zero competition</a:t>
            </a:r>
            <a:endParaRPr lang="en-US" sz="1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34340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9224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player in prescription biohacking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first. Doctor second.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in 48 hours.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1920240" cy="246888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146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Choose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molecule. Pick your protocol. No gatekeeping.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92608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60320" y="1920240"/>
            <a:ext cx="1920240" cy="246888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56032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5146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9748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Calls You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69748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MBBS/specialist callback within 2 hours. E-prescription issued.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926080"/>
            <a:ext cx="182880" cy="1828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54880" y="1920240"/>
            <a:ext cx="1920240" cy="246888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475488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51460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Discreet Delivery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89204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matte box. Metro delivery in 48 hours.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2926080"/>
            <a:ext cx="182880" cy="1828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949440" y="1920240"/>
            <a:ext cx="1920240" cy="246888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16"/>
          <p:cNvSpPr/>
          <p:nvPr/>
        </p:nvSpPr>
        <p:spPr>
          <a:xfrm>
            <a:off x="694944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2514600"/>
            <a:ext cx="502920" cy="5029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08660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Refills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708660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management, reminders, and support via WhatsApp.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PORTFOLIO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 products across 6 categories. Day 1: three SKUs.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560320" cy="146304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2560320" cy="4572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673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Modafinil, Armodafinil, NMN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606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 GM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508760"/>
            <a:ext cx="2560320" cy="146304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508760"/>
            <a:ext cx="2560320" cy="4572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916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673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6616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Sildenafil, Tadalafil, TRT, PT-141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566160" y="2606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 GM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508760"/>
            <a:ext cx="2560320" cy="146304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508760"/>
            <a:ext cx="2560320" cy="4572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1673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Metformin, LDN, Thymosin, Tesamorelin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400800" y="2606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 GM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3200400"/>
            <a:ext cx="2560320" cy="146304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3200400"/>
            <a:ext cx="2560320" cy="45720"/>
          </a:xfrm>
          <a:prstGeom prst="rect">
            <a:avLst/>
          </a:prstGeom>
          <a:solidFill>
            <a:srgbClr val="9B59B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8328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315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BPC-157, Sermorelin, CJC-1295, TB-500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31520" y="4297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~68% GM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383280" y="3200400"/>
            <a:ext cx="2560320" cy="146304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383280" y="3200400"/>
            <a:ext cx="2560320" cy="4572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38328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3192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56616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Semaglutide, Finasteride, Tretinoin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3566160" y="4297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~55% GM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217920" y="3200400"/>
            <a:ext cx="2560320" cy="146304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217920" y="3200400"/>
            <a:ext cx="2560320" cy="45720"/>
          </a:xfrm>
          <a:prstGeom prst="rect">
            <a:avLst/>
          </a:prstGeom>
          <a:solidFill>
            <a:srgbClr val="1ABC9C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83280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6656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/ PROTECT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640080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THC:CBD, OCP, PrEP, SSRI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400800" y="4297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GM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 D2C. WhatsApp-native. Doctor-verified.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965960" cy="219456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Gross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234440" cy="9144"/>
          </a:xfrm>
          <a:prstGeom prst="rect">
            <a:avLst/>
          </a:prstGeom>
          <a:solidFill>
            <a:srgbClr val="3A393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peptides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commodity scripts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463040"/>
            <a:ext cx="1965960" cy="219456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1,650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697480" y="2286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(INR/month)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2834640"/>
            <a:ext cx="1234440" cy="9144"/>
          </a:xfrm>
          <a:prstGeom prst="rect">
            <a:avLst/>
          </a:prstGeom>
          <a:solidFill>
            <a:srgbClr val="3A3935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across 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1965960" cy="219456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9,504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892040" y="2286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2834640"/>
            <a:ext cx="1234440" cy="9144"/>
          </a:xfrm>
          <a:prstGeom prst="rect">
            <a:avLst/>
          </a:prstGeom>
          <a:solidFill>
            <a:srgbClr val="3A3935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8-month avg retention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72% margin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1463040"/>
            <a:ext cx="1965960" cy="219456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&gt;5x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086600" y="2286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2834640"/>
            <a:ext cx="1234440" cy="9144"/>
          </a:xfrm>
          <a:prstGeom prst="rect">
            <a:avLst/>
          </a:prstGeom>
          <a:solidFill>
            <a:srgbClr val="3A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WhatsApp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Product subscription (recurring) + Doctor consult (bundled) + Blood test add-ons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Fulfillment: WhatsApp order → Doctor callback (2hr SLA) → E-prescription → Ship in 48hr → Auto-refill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PROJECTION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EBITDA-positive by month 17. INR 6.5Cr ARR by month 24.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760720" y="1783080"/>
            <a:ext cx="3017520" cy="548640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92240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433 subs  |  7.1L MRR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92240" y="2057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 validation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2468880"/>
            <a:ext cx="3017520" cy="548640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9224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1,306 subs  |  21.5L MRR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743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phase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3154680"/>
            <a:ext cx="3017520" cy="548640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M17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172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2,126 subs  |  35.1L MRR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3429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breakeven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60720" y="3840480"/>
            <a:ext cx="3017520" cy="548640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7"/>
          <p:cNvSpPr/>
          <p:nvPr/>
        </p:nvSpPr>
        <p:spPr>
          <a:xfrm>
            <a:off x="5852160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9224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3,294 subs  |  54.4L MRR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92240" y="4114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6.5Cr ARR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monthly churn  |  Setup cost &lt; INR 5 Lakh  |  CAC target: INR 1,500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SEO-first. WhatsApp-native. Zero competition on search.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— Own the Category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"BPC-157 India" — 590/mo, KD 18, zero competition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87752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542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"modafinil buy online India" — 2,400/mo, KD 24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26664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9809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"semaglutide India" — 1,300/mo, KD 12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465576"/>
            <a:ext cx="164592" cy="16459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3419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content calendar: molecule guides, protocol pages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04488"/>
            <a:ext cx="164592" cy="16459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012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30K/month starting paid budget ($0.22 CPC)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1645920"/>
            <a:ext cx="320040" cy="32004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39496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— The Growth Loop</a:t>
            </a:r>
            <a:endParaRPr lang="en-US" sz="14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148840"/>
            <a:ext cx="164592" cy="16459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5780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on Mac Mini M4 — full WhatsApp Business automation</a:t>
            </a:r>
            <a:endParaRPr lang="en-US" sz="10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2587752"/>
            <a:ext cx="164592" cy="164592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257800" y="2542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onboarding drip (Day 0, 3, 7, 14, 28)</a:t>
            </a:r>
            <a:endParaRPr lang="en-US" sz="10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026664"/>
            <a:ext cx="164592" cy="16459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257800" y="29809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refill reminders at Day 25 of each cycle</a:t>
            </a:r>
            <a:endParaRPr lang="en-US" sz="100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3465576"/>
            <a:ext cx="164592" cy="164592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257800" y="3419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program: share code on WhatsApp, earn credits</a:t>
            </a:r>
            <a:endParaRPr lang="en-US" sz="100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3480" y="3904488"/>
            <a:ext cx="164592" cy="164592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25780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support + protocol guidance — builds retention moat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occupies the premium + medically rigorous quadrant.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743200"/>
        </p:xfrm>
        <a:graphic>
          <a:graphicData uri="http://schemas.openxmlformats.org/drawingml/2006/table">
            <a:tbl>
              <a:tblPr/>
              <a:tblGrid>
                <a:gridCol w="1280160"/>
                <a:gridCol w="1737360"/>
                <a:gridCol w="1737360"/>
                <a:gridCol w="1737360"/>
                <a:gridCol w="173736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arq.clinic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Matters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Hims (US)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PharmEasy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E6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Biohacker-native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Mass-market men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telehealth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Pharmacy delivery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E6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Peptides &amp; TRT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catalog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E6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Post-purchase 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Post-purchase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Pre-purchase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 upload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E6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48hr, discreet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days (US)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E6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WhatsApp-first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+ web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+ web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E6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Premium, transparent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Discounted bundles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subs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C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space: No Indian player combines prescription biohacking + premium positioning + medical rigor + WhatsApp-native delivery.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OPERATIONS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stack. Automation-first. Scales without headcount.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Custom Theme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Pre-built, dark luxury storefront. Razorpay custom checkout (not Shopify Payments). Product pages with molecule search.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544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via OpenClaw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21208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Mini M4 running OpenClaw. Full automation: order confirmations, doctor assignment, refill reminders, support.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748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Automation Engine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1440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flows: new order → doctor assign → prescription → ship → refill. Zero manual intervention for standard orders.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69748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Network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21208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MBBS, endocrinologists, dermatologists, psychiatrists. 2-hour callback SLA. Per-consult billing (INR 300-700).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4048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440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Stack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914400" y="4114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Practice Guidelines 2020. E-prescription storage. Wholesale drug license (20B/21B). AYUSH route for cannabis.</a:t>
            </a:r>
            <a:endParaRPr lang="en-US" sz="9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84048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CRM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212080" y="4114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analytics + Razorpay dashboard. Cohort tracking. WhatsApp-native CRM via OpenClaw.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MOAT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is the moat. Every license is a barrier to entry.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solidFill>
            <a:srgbClr val="1E1E2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361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35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Drug License (20B + 21B)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1691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stock and sell. 30-60 day processing. INR 25K one-time. This alone stops most startups.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solidFill>
            <a:srgbClr val="16161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219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Practice Guidelines 2020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05840" y="2377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compliance: doctor callback, e-prescription, patient consent. Post-purchase model is explicitly permitted.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solidFill>
            <a:srgbClr val="1E1E2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0779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8072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Cannabis License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005840" y="3063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THC:CBD products via BAMS vaidya route. INR 50K est. Unique legal pathway most competitors don't know exists.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85800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16161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9359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3493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 / H1 Compliance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005840" y="3749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handling of prescription drugs. E-prescription stored. Doctor verification on every order.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85800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1E1E2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27939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4178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(Data Protection)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1005840" y="4434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encrypted, consent-based. Privacy-first design. WhatsApp messages auto-purge per policy.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685800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4-6 months of licensing creates a defensible head start over any new entrant.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INR 50 Lakh pre-seed to reach 1,000 subscribers.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0" y="137160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Legal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0896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5L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(first 3 SKUs)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08960" y="22128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8L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25968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(6 months)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108960" y="2596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18L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0" y="25968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29809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Infrastructure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108960" y="2980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7L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0" y="29809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Network Setup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10896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5L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114800" y="3364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10896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7L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114800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4160520"/>
            <a:ext cx="8229600" cy="13716"/>
          </a:xfrm>
          <a:prstGeom prst="rect">
            <a:avLst/>
          </a:prstGeom>
          <a:solidFill>
            <a:srgbClr val="3A3935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MILESTONES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active subscribers  |  INR 16.5L MRR  |  INR 2Cr ARR run rate  |  Path to EBITDA breakeven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operators who understand both the molecule and the market.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256032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20240" y="1737360"/>
            <a:ext cx="914400" cy="914400"/>
          </a:xfrm>
          <a:prstGeom prst="ellipse">
            <a:avLst/>
          </a:prstGeom>
          <a:solidFill>
            <a:srgbClr val="2626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[Your Name]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domain expertise,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ventures, relevant experience]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3840480" cy="2560320"/>
          </a:xfrm>
          <a:prstGeom prst="rect">
            <a:avLst/>
          </a:prstGeom>
          <a:solidFill>
            <a:srgbClr val="1E1E24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737360"/>
            <a:ext cx="914400" cy="914400"/>
          </a:xfrm>
          <a:prstGeom prst="ellipse">
            <a:avLst/>
          </a:prstGeom>
          <a:solidFill>
            <a:srgbClr val="26262E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/ CO-FOUNDER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/ TBD]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[Medical advisor, pharma background,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technical co-founder]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HIRES (WITH FUNDING)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 (part-time MBBS)  |  Growth Marketer  |  Ops &amp; Fulfillment Lead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0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</a:t>
            </a:r>
            <a:pPr algn="ctr" indent="0" marL="0">
              <a:buNone/>
            </a:pPr>
            <a:r>
              <a:rPr lang="en-US" sz="6000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body. Your call.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1371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C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[founder@arq.clinic]  |  arq.clinic  |  WhatsApp: [number]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One Technologies Pvt Ltd  |  Mumbai, India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arq.clinic — Pre-Seed Pitch Deck</dc:title>
  <dc:subject>PptxGenJS Presentation</dc:subject>
  <dc:creator>arq.clinic / Dear One Technologies</dc:creator>
  <cp:lastModifiedBy>arq.clinic / Dear One Technologies</cp:lastModifiedBy>
  <cp:revision>1</cp:revision>
  <dcterms:created xsi:type="dcterms:W3CDTF">2026-04-03T18:56:42Z</dcterms:created>
  <dcterms:modified xsi:type="dcterms:W3CDTF">2026-04-03T18:56:42Z</dcterms:modified>
</cp:coreProperties>
</file>